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Sudhanshu" userId="6a603b59-444f-432a-9cca-f86ea98ac30c" providerId="ADAL" clId="{63A7FE99-6124-4725-BF9A-CE5AC741DA5E}"/>
    <pc:docChg chg="custSel delSld modSld">
      <pc:chgData name="Singh, Sudhanshu" userId="6a603b59-444f-432a-9cca-f86ea98ac30c" providerId="ADAL" clId="{63A7FE99-6124-4725-BF9A-CE5AC741DA5E}" dt="2026-02-23T05:40:21.526" v="17" actId="20577"/>
      <pc:docMkLst>
        <pc:docMk/>
      </pc:docMkLst>
      <pc:sldChg chg="modSp mod">
        <pc:chgData name="Singh, Sudhanshu" userId="6a603b59-444f-432a-9cca-f86ea98ac30c" providerId="ADAL" clId="{63A7FE99-6124-4725-BF9A-CE5AC741DA5E}" dt="2026-02-20T17:29:49.848" v="11" actId="20577"/>
        <pc:sldMkLst>
          <pc:docMk/>
          <pc:sldMk cId="0" sldId="261"/>
        </pc:sldMkLst>
        <pc:spChg chg="mod">
          <ac:chgData name="Singh, Sudhanshu" userId="6a603b59-444f-432a-9cca-f86ea98ac30c" providerId="ADAL" clId="{63A7FE99-6124-4725-BF9A-CE5AC741DA5E}" dt="2026-02-20T17:29:49.848" v="11" actId="20577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Singh, Sudhanshu" userId="6a603b59-444f-432a-9cca-f86ea98ac30c" providerId="ADAL" clId="{63A7FE99-6124-4725-BF9A-CE5AC741DA5E}" dt="2026-02-23T05:40:21.526" v="17" actId="20577"/>
        <pc:sldMkLst>
          <pc:docMk/>
          <pc:sldMk cId="0" sldId="262"/>
        </pc:sldMkLst>
        <pc:spChg chg="mod">
          <ac:chgData name="Singh, Sudhanshu" userId="6a603b59-444f-432a-9cca-f86ea98ac30c" providerId="ADAL" clId="{63A7FE99-6124-4725-BF9A-CE5AC741DA5E}" dt="2026-02-23T05:40:21.526" v="17" actId="20577"/>
          <ac:spMkLst>
            <pc:docMk/>
            <pc:sldMk cId="0" sldId="262"/>
            <ac:spMk id="2" creationId="{00000000-0000-0000-0000-000000000000}"/>
          </ac:spMkLst>
        </pc:spChg>
      </pc:sldChg>
      <pc:sldChg chg="delSp modSp mod">
        <pc:chgData name="Singh, Sudhanshu" userId="6a603b59-444f-432a-9cca-f86ea98ac30c" providerId="ADAL" clId="{63A7FE99-6124-4725-BF9A-CE5AC741DA5E}" dt="2026-02-20T17:30:01.110" v="15" actId="20577"/>
        <pc:sldMkLst>
          <pc:docMk/>
          <pc:sldMk cId="0" sldId="263"/>
        </pc:sldMkLst>
        <pc:spChg chg="mod">
          <ac:chgData name="Singh, Sudhanshu" userId="6a603b59-444f-432a-9cca-f86ea98ac30c" providerId="ADAL" clId="{63A7FE99-6124-4725-BF9A-CE5AC741DA5E}" dt="2026-02-20T17:30:01.110" v="15" actId="20577"/>
          <ac:spMkLst>
            <pc:docMk/>
            <pc:sldMk cId="0" sldId="263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Deployment Improvement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ACC"/>
                </a:solidFill>
                <a:latin typeface="Segoe UI"/>
              </a:defRPr>
            </a:pPr>
            <a:r>
              <a:t>ENG-9411: Removing Dependency on GitHub Tokens &amp; Ensuring Zero-Downtime 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  <a:latin typeface="Segoe UI"/>
              </a:defRPr>
            </a:pPr>
            <a:r>
              <a:t>AI Editor Recommender Platform  •  ACS GTS AI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Segoe UI"/>
              </a:defRPr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1.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① Reliance on GitHub Container Registry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CF0F1"/>
                </a:solidFill>
                <a:latin typeface="Segoe UI"/>
              </a:defRPr>
            </a:pPr>
            <a:r>
              <a:t>• All images pulled from GitHub Container Registry (ghcr.io)</a:t>
            </a:r>
          </a:p>
          <a:p>
            <a:pPr>
              <a:spcAft>
                <a:spcPts val="600"/>
              </a:spcAft>
              <a:defRPr sz="1300">
                <a:solidFill>
                  <a:srgbClr val="ECF0F1"/>
                </a:solidFill>
                <a:latin typeface="Segoe UI"/>
              </a:defRPr>
            </a:pPr>
            <a:r>
              <a:t>• Every pod startup requires GitHub authentication via tokens</a:t>
            </a:r>
          </a:p>
          <a:p>
            <a:pPr>
              <a:spcAft>
                <a:spcPts val="600"/>
              </a:spcAft>
              <a:defRPr sz="1300">
                <a:solidFill>
                  <a:srgbClr val="ECF0F1"/>
                </a:solidFill>
                <a:latin typeface="Segoe UI"/>
              </a:defRPr>
            </a:pPr>
            <a:r>
              <a:t>• Pod creation fails if GitHub is unavailable</a:t>
            </a:r>
          </a:p>
          <a:p>
            <a:pPr>
              <a:spcAft>
                <a:spcPts val="600"/>
              </a:spcAft>
              <a:defRPr sz="1300">
                <a:solidFill>
                  <a:srgbClr val="ECF0F1"/>
                </a:solidFill>
                <a:latin typeface="Segoe UI"/>
              </a:defRPr>
            </a:pPr>
            <a:r>
              <a:t>• Pod creation fails if tokens expire</a:t>
            </a:r>
          </a:p>
          <a:p>
            <a:pPr>
              <a:spcAft>
                <a:spcPts val="600"/>
              </a:spcAft>
              <a:defRPr sz="1300">
                <a:solidFill>
                  <a:srgbClr val="ECF0F1"/>
                </a:solidFill>
                <a:latin typeface="Segoe UI"/>
              </a:defRPr>
            </a:pPr>
            <a:r>
              <a:t>• Pod creation fails if external network issues occur</a:t>
            </a:r>
          </a:p>
          <a:p>
            <a:pPr>
              <a:spcAft>
                <a:spcPts val="600"/>
              </a:spcAft>
              <a:defRPr sz="1300">
                <a:solidFill>
                  <a:srgbClr val="ECF0F1"/>
                </a:solidFill>
                <a:latin typeface="Segoe UI"/>
              </a:defRPr>
            </a:pPr>
            <a:r>
              <a:t>• Single point of failure for production workloads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5486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② Missing Rolling Update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CF0F1"/>
                </a:solidFill>
                <a:latin typeface="Segoe UI"/>
              </a:defRPr>
            </a:pPr>
            <a:r>
              <a:t>• Deployments lack explicit rolling update configuration</a:t>
            </a:r>
          </a:p>
          <a:p>
            <a:pPr>
              <a:spcAft>
                <a:spcPts val="600"/>
              </a:spcAft>
              <a:defRPr sz="1300">
                <a:solidFill>
                  <a:srgbClr val="ECF0F1"/>
                </a:solidFill>
                <a:latin typeface="Segoe UI"/>
              </a:defRPr>
            </a:pPr>
            <a:r>
              <a:t>• Pods may be terminated before new version is ready</a:t>
            </a:r>
          </a:p>
          <a:p>
            <a:pPr>
              <a:spcAft>
                <a:spcPts val="600"/>
              </a:spcAft>
              <a:defRPr sz="1300">
                <a:solidFill>
                  <a:srgbClr val="ECF0F1"/>
                </a:solidFill>
                <a:latin typeface="Segoe UI"/>
              </a:defRPr>
            </a:pPr>
            <a:r>
              <a:t>• During updates, service downtime can occur</a:t>
            </a:r>
          </a:p>
          <a:p>
            <a:pPr>
              <a:spcAft>
                <a:spcPts val="600"/>
              </a:spcAft>
              <a:defRPr sz="1300">
                <a:solidFill>
                  <a:srgbClr val="ECF0F1"/>
                </a:solidFill>
                <a:latin typeface="Segoe UI"/>
              </a:defRPr>
            </a:pPr>
            <a:r>
              <a:t>• No PodDisruptionBudgets for core services</a:t>
            </a:r>
          </a:p>
          <a:p>
            <a:pPr>
              <a:spcAft>
                <a:spcPts val="600"/>
              </a:spcAft>
              <a:defRPr sz="1300">
                <a:solidFill>
                  <a:srgbClr val="ECF0F1"/>
                </a:solidFill>
                <a:latin typeface="Segoe UI"/>
              </a:defRPr>
            </a:pPr>
            <a:r>
              <a:t>• No Horizontal Pod Autoscaler configured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72000"/>
            <a:ext cx="11247120" cy="1371600"/>
          </a:xfrm>
          <a:prstGeom prst="roundRect">
            <a:avLst/>
          </a:prstGeom>
          <a:solidFill>
            <a:srgbClr val="2C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Segoe UI"/>
              </a:defRPr>
            </a:pPr>
            <a:r>
              <a:t>⚠  IMPACT: Production Outage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206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  <a:latin typeface="Segoe UI"/>
              </a:defRPr>
            </a:pPr>
            <a:r>
              <a:t>If GitHub goes down or tokens expire → all new pod starts fail → cannot scale, recover from crashes, or deploy updates → production service degradation or outage.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2. Current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Segoe UI"/>
              </a:defRPr>
            </a:pPr>
            <a:r>
              <a:t>Container Pull Flow (Current)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286000" cy="731520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GitHub Actions</a:t>
            </a:r>
            <a:br/>
            <a:r>
              <a:t>(CI/CD)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828800"/>
            <a:ext cx="2286000" cy="7315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ghcr.io</a:t>
            </a:r>
            <a:br/>
            <a:r>
              <a:t>(GitHub Registry)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828800"/>
            <a:ext cx="2011680" cy="7315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GitHub Token</a:t>
            </a:r>
            <a:br/>
            <a:r>
              <a:t>(imagePullSecret)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828800"/>
            <a:ext cx="228600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EKS Cluster</a:t>
            </a:r>
            <a:br/>
            <a:r>
              <a:t>(Pods)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926080"/>
            <a:ext cx="4937760" cy="1645920"/>
          </a:xfrm>
          <a:prstGeom prst="roundRect">
            <a:avLst/>
          </a:prstGeom>
          <a:solidFill>
            <a:srgbClr val="3B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Segoe UI"/>
              </a:defRPr>
            </a:pPr>
            <a:r>
              <a:t>FAILURE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3832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9999"/>
                </a:solidFill>
                <a:latin typeface="Segoe UI"/>
              </a:defRPr>
            </a:pPr>
            <a:r>
              <a:t>✗  GitHub service outage</a:t>
            </a:r>
          </a:p>
          <a:p>
            <a:pPr>
              <a:spcAft>
                <a:spcPts val="600"/>
              </a:spcAft>
              <a:defRPr sz="1300">
                <a:solidFill>
                  <a:srgbClr val="FF9999"/>
                </a:solidFill>
                <a:latin typeface="Segoe UI"/>
              </a:defRPr>
            </a:pPr>
            <a:r>
              <a:t>✗  Token expired / rotated</a:t>
            </a:r>
          </a:p>
          <a:p>
            <a:pPr>
              <a:spcAft>
                <a:spcPts val="600"/>
              </a:spcAft>
              <a:defRPr sz="1300">
                <a:solidFill>
                  <a:srgbClr val="FF9999"/>
                </a:solidFill>
                <a:latin typeface="Segoe UI"/>
              </a:defRPr>
            </a:pPr>
            <a:r>
              <a:t>✗  External network issues</a:t>
            </a:r>
          </a:p>
          <a:p>
            <a:pPr>
              <a:spcAft>
                <a:spcPts val="600"/>
              </a:spcAft>
              <a:defRPr sz="1300">
                <a:solidFill>
                  <a:srgbClr val="FF9999"/>
                </a:solidFill>
                <a:latin typeface="Segoe UI"/>
              </a:defRPr>
            </a:pPr>
            <a:r>
              <a:t>✗  Rate limiting on ghcr.io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54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Segoe UI"/>
              </a:defRPr>
            </a:pPr>
            <a:r>
              <a:t>Deployment Update Process (Current)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972800" cy="1188720"/>
          </a:xfrm>
          <a:prstGeom prst="roundRect">
            <a:avLst/>
          </a:prstGeom>
          <a:solidFill>
            <a:srgbClr val="0D0D1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200"/>
              </a:spcAft>
              <a:defRPr sz="1200">
                <a:solidFill>
                  <a:srgbClr val="2ECC71"/>
                </a:solidFill>
                <a:latin typeface="Consolas"/>
              </a:defRPr>
            </a:pPr>
            <a:r>
              <a:t>Time 0:   [Pod v1] ─────────── serving traffic</a:t>
            </a:r>
          </a:p>
          <a:p>
            <a:pPr>
              <a:spcAft>
                <a:spcPts val="200"/>
              </a:spcAft>
              <a:defRPr sz="1200">
                <a:solidFill>
                  <a:srgbClr val="2ECC71"/>
                </a:solidFill>
                <a:latin typeface="Consolas"/>
              </a:defRPr>
            </a:pPr>
            <a:r>
              <a:t>Time 1:   [Pod v1] ──── KILLED (before new pod ready)</a:t>
            </a:r>
          </a:p>
          <a:p>
            <a:pPr>
              <a:spcAft>
                <a:spcPts val="200"/>
              </a:spcAft>
              <a:defRPr sz="1200">
                <a:solidFill>
                  <a:srgbClr val="2ECC71"/>
                </a:solidFill>
                <a:latin typeface="Consolas"/>
              </a:defRPr>
            </a:pPr>
            <a:r>
              <a:t>Time 2:   [   NO PODS AVAILABLE   ]  ← requests FAIL, service downtime</a:t>
            </a:r>
          </a:p>
          <a:p>
            <a:pPr>
              <a:spcAft>
                <a:spcPts val="200"/>
              </a:spcAft>
              <a:defRPr sz="1200">
                <a:solidFill>
                  <a:srgbClr val="2ECC71"/>
                </a:solidFill>
                <a:latin typeface="Consolas"/>
              </a:defRPr>
            </a:pPr>
            <a:r>
              <a:t>Time 3:   [Pod v2] ─────────── finally ready       Result: DOWNTIME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3. Live Cluster Audit (eks-dev)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  <a:latin typeface="Segoe UI"/>
              </a:defRPr>
            </a:pPr>
            <a:r>
              <a:t>Current deployment configuration in production: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Deployment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Replicas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maxUnavailable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maxSurge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imagePullPolicy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CF0F1"/>
                          </a:solidFill>
                          <a:latin typeface="Segoe UI"/>
                        </a:defRPr>
                      </a:pPr>
                      <a:r>
                        <a:t>agent-invoke-client</a:t>
                      </a:r>
                    </a:p>
                  </a:txBody>
                  <a:tcPr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CF0F1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CF0F1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CF0F1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74C3C"/>
                          </a:solidFill>
                          <a:latin typeface="Segoe UI"/>
                        </a:defRPr>
                      </a:pPr>
                      <a:r>
                        <a:t>Always</a:t>
                      </a:r>
                    </a:p>
                  </a:txBody>
                  <a:tcPr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74C3C"/>
                          </a:solidFill>
                          <a:latin typeface="Segoe UI"/>
                        </a:defRPr>
                      </a:pPr>
                      <a:r>
                        <a:t>⚠ AT RISK</a:t>
                      </a:r>
                    </a:p>
                  </a:txBody>
                  <a:tcPr>
                    <a:solidFill>
                      <a:srgbClr val="1E1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CF0F1"/>
                          </a:solidFill>
                          <a:latin typeface="Segoe UI"/>
                        </a:defRPr>
                      </a:pPr>
                      <a:r>
                        <a:t>at-ai-editor-recommender</a:t>
                      </a:r>
                    </a:p>
                  </a:txBody>
                  <a:tcPr>
                    <a:solidFill>
                      <a:srgbClr val="151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CF0F1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51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CF0F1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151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CF0F1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151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CC71"/>
                          </a:solidFill>
                          <a:latin typeface="Segoe UI"/>
                        </a:defRPr>
                      </a:pPr>
                      <a:r>
                        <a:t>IfNotPresent</a:t>
                      </a:r>
                    </a:p>
                  </a:txBody>
                  <a:tcPr>
                    <a:solidFill>
                      <a:srgbClr val="151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39C12"/>
                          </a:solidFill>
                          <a:latin typeface="Segoe UI"/>
                        </a:defRPr>
                      </a:pPr>
                      <a:r>
                        <a:t>⚠ PARTIAL</a:t>
                      </a:r>
                    </a:p>
                  </a:txBody>
                  <a:tcPr>
                    <a:solidFill>
                      <a:srgbClr val="1515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CF0F1"/>
                          </a:solidFill>
                          <a:latin typeface="Segoe UI"/>
                        </a:defRPr>
                      </a:pPr>
                      <a:r>
                        <a:t>at-ai-editor-recommender-poc</a:t>
                      </a:r>
                    </a:p>
                  </a:txBody>
                  <a:tcPr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CF0F1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CF0F1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CF0F1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CC71"/>
                          </a:solidFill>
                          <a:latin typeface="Segoe UI"/>
                        </a:defRPr>
                      </a:pPr>
                      <a:r>
                        <a:t>IfNotPresent</a:t>
                      </a:r>
                    </a:p>
                  </a:txBody>
                  <a:tcPr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39C12"/>
                          </a:solidFill>
                          <a:latin typeface="Segoe UI"/>
                        </a:defRPr>
                      </a:pPr>
                      <a:r>
                        <a:t>⚠ PARTIAL</a:t>
                      </a:r>
                    </a:p>
                  </a:txBody>
                  <a:tcPr>
                    <a:solidFill>
                      <a:srgbClr val="1E1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CF0F1"/>
                          </a:solidFill>
                          <a:latin typeface="Segoe UI"/>
                        </a:defRPr>
                      </a:pPr>
                      <a:r>
                        <a:t>at-ai-topic-extraction</a:t>
                      </a:r>
                    </a:p>
                  </a:txBody>
                  <a:tcPr>
                    <a:solidFill>
                      <a:srgbClr val="151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CF0F1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51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CF0F1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151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CF0F1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151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74C3C"/>
                          </a:solidFill>
                          <a:latin typeface="Segoe UI"/>
                        </a:defRPr>
                      </a:pPr>
                      <a:r>
                        <a:t>Always</a:t>
                      </a:r>
                    </a:p>
                  </a:txBody>
                  <a:tcPr>
                    <a:solidFill>
                      <a:srgbClr val="151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74C3C"/>
                          </a:solidFill>
                          <a:latin typeface="Segoe UI"/>
                        </a:defRPr>
                      </a:pPr>
                      <a:r>
                        <a:t>⚠ AT RISK</a:t>
                      </a:r>
                    </a:p>
                  </a:txBody>
                  <a:tcPr>
                    <a:solidFill>
                      <a:srgbClr val="1515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CF0F1"/>
                          </a:solidFill>
                          <a:latin typeface="Segoe UI"/>
                        </a:defRPr>
                      </a:pPr>
                      <a:r>
                        <a:t>ee-api</a:t>
                      </a:r>
                    </a:p>
                  </a:txBody>
                  <a:tcPr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CF0F1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CF0F1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CF0F1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74C3C"/>
                          </a:solidFill>
                          <a:latin typeface="Segoe UI"/>
                        </a:defRPr>
                      </a:pPr>
                      <a:r>
                        <a:t>Always</a:t>
                      </a:r>
                    </a:p>
                  </a:txBody>
                  <a:tcPr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74C3C"/>
                          </a:solidFill>
                          <a:latin typeface="Segoe UI"/>
                        </a:defRPr>
                      </a:pPr>
                      <a:r>
                        <a:t>⚠ AT RISK</a:t>
                      </a:r>
                    </a:p>
                  </a:txBody>
                  <a:tcPr>
                    <a:solidFill>
                      <a:srgbClr val="1E1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CF0F1"/>
                          </a:solidFill>
                          <a:latin typeface="Segoe UI"/>
                        </a:defRPr>
                      </a:pPr>
                      <a:r>
                        <a:t>ee-api-poc</a:t>
                      </a:r>
                    </a:p>
                  </a:txBody>
                  <a:tcPr>
                    <a:solidFill>
                      <a:srgbClr val="151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CF0F1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51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CF0F1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151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CF0F1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151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CC71"/>
                          </a:solidFill>
                          <a:latin typeface="Segoe UI"/>
                        </a:defRPr>
                      </a:pPr>
                      <a:r>
                        <a:t>IfNotPresent</a:t>
                      </a:r>
                    </a:p>
                  </a:txBody>
                  <a:tcPr>
                    <a:solidFill>
                      <a:srgbClr val="151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39C12"/>
                          </a:solidFill>
                          <a:latin typeface="Segoe UI"/>
                        </a:defRPr>
                      </a:pPr>
                      <a:r>
                        <a:t>⚠ PARTIAL</a:t>
                      </a:r>
                    </a:p>
                  </a:txBody>
                  <a:tcPr>
                    <a:solidFill>
                      <a:srgbClr val="1515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Segoe UI"/>
              </a:defRPr>
            </a:pPr>
            <a:r>
              <a:t>Key Findings: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CF0F1"/>
                </a:solidFill>
                <a:latin typeface="Segoe UI"/>
              </a:defRPr>
            </a:pPr>
            <a:r>
              <a:t>• 3 of 6 services still use imagePullPolicy: Always — vulnerable to GitHub outages</a:t>
            </a:r>
          </a:p>
          <a:p>
            <a:pPr>
              <a:spcAft>
                <a:spcPts val="600"/>
              </a:spcAft>
              <a:defRPr sz="1300">
                <a:solidFill>
                  <a:srgbClr val="ECF0F1"/>
                </a:solidFill>
                <a:latin typeface="Segoe UI"/>
              </a:defRPr>
            </a:pPr>
            <a:r>
              <a:t>• Rolling update strategy (maxUnavailable: 0) is NOT deployed — still using default 25%/25%</a:t>
            </a:r>
          </a:p>
          <a:p>
            <a:pPr>
              <a:spcAft>
                <a:spcPts val="600"/>
              </a:spcAft>
              <a:defRPr sz="1300">
                <a:solidFill>
                  <a:srgbClr val="ECF0F1"/>
                </a:solidFill>
                <a:latin typeface="Segoe UI"/>
              </a:defRPr>
            </a:pPr>
            <a:r>
              <a:t>• Only 1 PodDisruptionBudget exists (poc only) — core services unprotected during node drains</a:t>
            </a:r>
          </a:p>
          <a:p>
            <a:pPr>
              <a:spcAft>
                <a:spcPts val="600"/>
              </a:spcAft>
              <a:defRPr sz="1300">
                <a:solidFill>
                  <a:srgbClr val="ECF0F1"/>
                </a:solidFill>
                <a:latin typeface="Segoe UI"/>
              </a:defRPr>
            </a:pPr>
            <a:r>
              <a:t>• Zero Horizontal Pod Autoscalers — no auto-scaling under load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4</a:t>
            </a:r>
            <a:r>
              <a:rPr dirty="0"/>
              <a:t>. Solution B — Complete Fix: AWS ECR Migration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20040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RECOMMENDED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CF0F1"/>
                </a:solidFill>
                <a:latin typeface="Segoe UI"/>
              </a:defRPr>
            </a:pPr>
            <a:r>
              <a:t>Move container images from GitHub Container Registry → AWS Elastic Container Registry (ECR).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Segoe UI"/>
              </a:defRPr>
            </a:pPr>
            <a:r>
              <a:t>Current (GitHub Registry)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2011680" cy="640080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GitHub</a:t>
            </a:r>
            <a:br/>
            <a:r>
              <a:t>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926080"/>
            <a:ext cx="2011680" cy="6400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ghcr.io</a:t>
            </a:r>
            <a:br/>
            <a:r>
              <a:t>(External)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2926080"/>
            <a:ext cx="164592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Token</a:t>
            </a:r>
            <a:br/>
            <a:r>
              <a:t>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926080"/>
            <a:ext cx="201168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EKS</a:t>
            </a:r>
            <a:br/>
            <a:r>
              <a:t>Cluster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Segoe UI"/>
              </a:defRPr>
            </a:pPr>
            <a:r>
              <a:t>Proposed (AWS ECR)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2011680" cy="640080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GitHub</a:t>
            </a:r>
            <a:br/>
            <a:r>
              <a:t>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4297680"/>
            <a:ext cx="2011680" cy="64008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AWS ECR</a:t>
            </a:r>
            <a:br/>
            <a:r>
              <a:t>(Internal)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4297680"/>
            <a:ext cx="164592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IRSA</a:t>
            </a:r>
            <a:br>
              <a:rPr dirty="0"/>
            </a:br>
            <a:r>
              <a:rPr dirty="0"/>
              <a:t>(No Token)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297680"/>
            <a:ext cx="201168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EKS</a:t>
            </a:r>
            <a:br/>
            <a:r>
              <a:t>Cluster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12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Segoe UI"/>
              </a:defRPr>
            </a:pPr>
            <a:r>
              <a:t>Benefits: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7784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CF0F1"/>
                </a:solidFill>
                <a:latin typeface="Segoe UI"/>
              </a:defRPr>
            </a:pPr>
            <a:r>
              <a:t>✓  No GitHub tokens required (zero token management)</a:t>
            </a:r>
          </a:p>
          <a:p>
            <a:pPr>
              <a:spcAft>
                <a:spcPts val="600"/>
              </a:spcAft>
              <a:defRPr sz="1300">
                <a:solidFill>
                  <a:srgbClr val="ECF0F1"/>
                </a:solidFill>
                <a:latin typeface="Segoe UI"/>
              </a:defRPr>
            </a:pPr>
            <a:r>
              <a:t>✓  No external network dependency (stays within AWS)</a:t>
            </a:r>
          </a:p>
          <a:p>
            <a:pPr>
              <a:spcAft>
                <a:spcPts val="600"/>
              </a:spcAft>
              <a:defRPr sz="1300">
                <a:solidFill>
                  <a:srgbClr val="ECF0F1"/>
                </a:solidFill>
                <a:latin typeface="Segoe UI"/>
              </a:defRPr>
            </a:pPr>
            <a:r>
              <a:t>✓  Faster image pulls (internal VPC endpoint)</a:t>
            </a:r>
          </a:p>
          <a:p>
            <a:pPr>
              <a:spcAft>
                <a:spcPts val="600"/>
              </a:spcAft>
              <a:defRPr sz="1300">
                <a:solidFill>
                  <a:srgbClr val="ECF0F1"/>
                </a:solidFill>
                <a:latin typeface="Segoe UI"/>
              </a:defRPr>
            </a:pPr>
            <a:r>
              <a:t>✓  Native IAM authentication via IRSA (already configured)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212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Segoe UI"/>
              </a:defRPr>
            </a:pPr>
            <a:r>
              <a:t>Implementation Steps: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57784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CF0F1"/>
                </a:solidFill>
                <a:latin typeface="Segoe UI"/>
              </a:defRPr>
            </a:pPr>
            <a:r>
              <a:t>1. Create ECR repositories per service</a:t>
            </a:r>
          </a:p>
          <a:p>
            <a:pPr>
              <a:spcAft>
                <a:spcPts val="600"/>
              </a:spcAft>
              <a:defRPr sz="1300">
                <a:solidFill>
                  <a:srgbClr val="ECF0F1"/>
                </a:solidFill>
                <a:latin typeface="Segoe UI"/>
              </a:defRPr>
            </a:pPr>
            <a:r>
              <a:t>2. Add GitHub Actions OIDC → ECR push</a:t>
            </a:r>
          </a:p>
          <a:p>
            <a:pPr>
              <a:spcAft>
                <a:spcPts val="600"/>
              </a:spcAft>
              <a:defRPr sz="1300">
                <a:solidFill>
                  <a:srgbClr val="ECF0F1"/>
                </a:solidFill>
                <a:latin typeface="Segoe UI"/>
              </a:defRPr>
            </a:pPr>
            <a:r>
              <a:t>3. Update deployment manifests (image URLs)</a:t>
            </a:r>
          </a:p>
          <a:p>
            <a:pPr>
              <a:spcAft>
                <a:spcPts val="600"/>
              </a:spcAft>
              <a:defRPr sz="1300">
                <a:solidFill>
                  <a:srgbClr val="ECF0F1"/>
                </a:solidFill>
                <a:latin typeface="Segoe UI"/>
              </a:defRPr>
            </a:pPr>
            <a:r>
              <a:t>4. Remove imagePullSecrets from deployments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 Rolling Update Strategy (Zero Downtime)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28600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MUST HAVE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Segoe UI"/>
              </a:defRPr>
            </a:pPr>
            <a:r>
              <a:t>Configuration: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5303520" cy="1828800"/>
          </a:xfrm>
          <a:prstGeom prst="roundRect">
            <a:avLst/>
          </a:prstGeom>
          <a:solidFill>
            <a:srgbClr val="0D0D1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200"/>
              </a:spcAft>
              <a:defRPr sz="1200">
                <a:solidFill>
                  <a:srgbClr val="2ECC71"/>
                </a:solidFill>
                <a:latin typeface="Consolas"/>
              </a:defRPr>
            </a:pPr>
            <a:r>
              <a:rPr dirty="0"/>
              <a:t>spec:</a:t>
            </a:r>
          </a:p>
          <a:p>
            <a:pPr>
              <a:spcAft>
                <a:spcPts val="200"/>
              </a:spcAft>
              <a:defRPr sz="1200">
                <a:solidFill>
                  <a:srgbClr val="2ECC71"/>
                </a:solidFill>
                <a:latin typeface="Consolas"/>
              </a:defRPr>
            </a:pPr>
            <a:r>
              <a:rPr dirty="0"/>
              <a:t>  replicas: 2</a:t>
            </a:r>
          </a:p>
          <a:p>
            <a:pPr>
              <a:spcAft>
                <a:spcPts val="200"/>
              </a:spcAft>
              <a:defRPr sz="1200">
                <a:solidFill>
                  <a:srgbClr val="2ECC71"/>
                </a:solidFill>
                <a:latin typeface="Consolas"/>
              </a:defRPr>
            </a:pPr>
            <a:r>
              <a:rPr dirty="0"/>
              <a:t>  strategy:</a:t>
            </a:r>
          </a:p>
          <a:p>
            <a:pPr>
              <a:spcAft>
                <a:spcPts val="200"/>
              </a:spcAft>
              <a:defRPr sz="1200">
                <a:solidFill>
                  <a:srgbClr val="2ECC71"/>
                </a:solidFill>
                <a:latin typeface="Consolas"/>
              </a:defRPr>
            </a:pPr>
            <a:r>
              <a:rPr dirty="0"/>
              <a:t>    type: </a:t>
            </a:r>
            <a:r>
              <a:rPr dirty="0" err="1"/>
              <a:t>RollingUpdate</a:t>
            </a:r>
            <a:endParaRPr dirty="0"/>
          </a:p>
          <a:p>
            <a:pPr>
              <a:spcAft>
                <a:spcPts val="200"/>
              </a:spcAft>
              <a:defRPr sz="1200">
                <a:solidFill>
                  <a:srgbClr val="2ECC71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rollingUpdate</a:t>
            </a:r>
            <a:r>
              <a:rPr dirty="0"/>
              <a:t>:</a:t>
            </a:r>
          </a:p>
          <a:p>
            <a:pPr>
              <a:spcAft>
                <a:spcPts val="200"/>
              </a:spcAft>
              <a:defRPr sz="1200">
                <a:solidFill>
                  <a:srgbClr val="2ECC71"/>
                </a:solidFill>
                <a:latin typeface="Consolas"/>
              </a:defRPr>
            </a:pPr>
            <a:r>
              <a:rPr dirty="0"/>
              <a:t>      </a:t>
            </a:r>
            <a:r>
              <a:rPr dirty="0" err="1"/>
              <a:t>maxUnavailable</a:t>
            </a:r>
            <a:r>
              <a:rPr dirty="0"/>
              <a:t>: 0   # never take pods offline</a:t>
            </a:r>
          </a:p>
          <a:p>
            <a:pPr>
              <a:spcAft>
                <a:spcPts val="200"/>
              </a:spcAft>
              <a:defRPr sz="1200">
                <a:solidFill>
                  <a:srgbClr val="2ECC71"/>
                </a:solidFill>
                <a:latin typeface="Consolas"/>
              </a:defRPr>
            </a:pPr>
            <a:r>
              <a:rPr dirty="0"/>
              <a:t>      </a:t>
            </a:r>
            <a:r>
              <a:rPr dirty="0" err="1"/>
              <a:t>maxSurge</a:t>
            </a:r>
            <a:r>
              <a:rPr dirty="0"/>
              <a:t>: 1          # allow 1 extra pod during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Segoe UI"/>
              </a:defRPr>
            </a:pPr>
            <a:r>
              <a:t>Rolling Update Timeline: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377440"/>
            <a:ext cx="5303520" cy="1828800"/>
          </a:xfrm>
          <a:prstGeom prst="roundRect">
            <a:avLst/>
          </a:prstGeom>
          <a:solidFill>
            <a:srgbClr val="0D0D1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2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Time 0:  [Pod v1] ─────── serving traffic</a:t>
            </a:r>
          </a:p>
          <a:p>
            <a:pPr>
              <a:spcAft>
                <a:spcPts val="2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Time 1:  [Pod v1] ──+── [Pod v2] (creating)</a:t>
            </a:r>
          </a:p>
          <a:p>
            <a:pPr>
              <a:spcAft>
                <a:spcPts val="2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Time 2:  [Pod v1] ──+── [Pod v2] (starting)</a:t>
            </a:r>
          </a:p>
          <a:p>
            <a:pPr>
              <a:spcAft>
                <a:spcPts val="2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Time 3:  [Pod v1] still serving</a:t>
            </a:r>
          </a:p>
          <a:p>
            <a:pPr>
              <a:spcAft>
                <a:spcPts val="2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       [Pod v2] passes readiness probe ✓</a:t>
            </a:r>
          </a:p>
          <a:p>
            <a:pPr>
              <a:spcAft>
                <a:spcPts val="2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Time 4:  [Pod v1] terminated</a:t>
            </a:r>
          </a:p>
          <a:p>
            <a:pPr>
              <a:spcAft>
                <a:spcPts val="2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       [Pod v2] ─────── now serving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Segoe UI"/>
              </a:defRPr>
            </a:pPr>
            <a:r>
              <a:t>Key Guarantees: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3200400" cy="1188720"/>
          </a:xfrm>
          <a:prstGeom prst="roundRect">
            <a:avLst/>
          </a:prstGeom>
          <a:solidFill>
            <a:srgbClr val="0E3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Segoe UI"/>
              </a:defRPr>
            </a:pPr>
            <a:r>
              <a:t>maxUnavailable: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40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Segoe UI"/>
              </a:defRPr>
            </a:pPr>
            <a:r>
              <a:t>Never removes an existing pod</a:t>
            </a:r>
            <a:br/>
            <a:r>
              <a:t>until replacement is ready</a:t>
            </a:r>
            <a:br/>
            <a:r>
              <a:t>and passing health checks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5029200"/>
            <a:ext cx="3200400" cy="1188720"/>
          </a:xfrm>
          <a:prstGeom prst="roundRect">
            <a:avLst/>
          </a:prstGeom>
          <a:solidFill>
            <a:srgbClr val="0E3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5074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Segoe UI"/>
              </a:defRPr>
            </a:pPr>
            <a:r>
              <a:t>maxSurge: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5440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Segoe UI"/>
              </a:defRPr>
            </a:pPr>
            <a:r>
              <a:t>Creates 1 extra pod during</a:t>
            </a:r>
            <a:br/>
            <a:r>
              <a:t>update to ensure capacity</a:t>
            </a:r>
            <a:br/>
            <a:r>
              <a:t>before removing old pod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5029200"/>
            <a:ext cx="3474720" cy="1188720"/>
          </a:xfrm>
          <a:prstGeom prst="roundRect">
            <a:avLst/>
          </a:prstGeom>
          <a:solidFill>
            <a:srgbClr val="0E3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5074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Segoe UI"/>
              </a:defRPr>
            </a:pPr>
            <a:r>
              <a:t>Readiness Probe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54406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Segoe UI"/>
              </a:defRPr>
            </a:pPr>
            <a:r>
              <a:t>New pod must pass /ready</a:t>
            </a:r>
            <a:br/>
            <a:r>
              <a:t>health check before old pod</a:t>
            </a:r>
            <a:br/>
            <a:r>
              <a:t>is terminated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6</a:t>
            </a:r>
            <a:r>
              <a:rPr dirty="0"/>
              <a:t>. Additional Recommended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09728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PodDisruptionBudgets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Segoe UI"/>
              </a:defRPr>
            </a:pPr>
            <a:r>
              <a:t>Add PDB (minAvailable: 1) for all critical services. Prevents node drains/cluster upgrades from killing all pods simultaneously. Currently only poc has a PDB.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1097280" cy="320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Startup Probe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6974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Segoe UI"/>
              </a:defRPr>
            </a:pPr>
            <a:r>
              <a:rPr dirty="0"/>
              <a:t>Add </a:t>
            </a:r>
            <a:r>
              <a:rPr dirty="0" err="1"/>
              <a:t>startupProbe</a:t>
            </a:r>
            <a:r>
              <a:rPr dirty="0"/>
              <a:t> to separate slow-start detection from liveness checks. Current </a:t>
            </a:r>
            <a:r>
              <a:rPr dirty="0" err="1"/>
              <a:t>livenessProbe</a:t>
            </a:r>
            <a:r>
              <a:rPr dirty="0"/>
              <a:t> </a:t>
            </a:r>
            <a:r>
              <a:rPr dirty="0" err="1"/>
              <a:t>initialDelaySeconds</a:t>
            </a:r>
            <a:r>
              <a:rPr dirty="0"/>
              <a:t>=30 may kill legitimately slow-starting pods.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83280"/>
            <a:ext cx="1097280" cy="320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Horizontal Pod </a:t>
            </a:r>
            <a:r>
              <a:rPr dirty="0" err="1"/>
              <a:t>Autoscaler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73736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Segoe UI"/>
              </a:defRPr>
            </a:pPr>
            <a:r>
              <a:rPr dirty="0"/>
              <a:t>Add HPA (min: 2, max: 4) based on CPU/memory utilization. Currently zero HPAs — no auto-scaling during traffic spikes.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9120"/>
            <a:ext cx="1097280" cy="320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PreStop</a:t>
            </a:r>
            <a:r>
              <a:rPr dirty="0"/>
              <a:t> Lifecycle Hook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709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Segoe UI"/>
              </a:defRPr>
            </a:pPr>
            <a:r>
              <a:rPr dirty="0"/>
              <a:t>Add </a:t>
            </a:r>
            <a:r>
              <a:rPr dirty="0" err="1"/>
              <a:t>preStop</a:t>
            </a:r>
            <a:r>
              <a:rPr dirty="0"/>
              <a:t> hook with 5s sleep to allow in-flight requests to complete before pod termination during rolling updates.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1521</TotalTime>
  <Words>878</Words>
  <Application>Microsoft Office PowerPoint</Application>
  <PresentationFormat>Widescreen</PresentationFormat>
  <Paragraphs>146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Singh, Sudhanshu</cp:lastModifiedBy>
  <cp:revision>1</cp:revision>
  <dcterms:created xsi:type="dcterms:W3CDTF">2013-01-27T09:14:16Z</dcterms:created>
  <dcterms:modified xsi:type="dcterms:W3CDTF">2026-02-23T07:01:21Z</dcterms:modified>
  <cp:category/>
</cp:coreProperties>
</file>