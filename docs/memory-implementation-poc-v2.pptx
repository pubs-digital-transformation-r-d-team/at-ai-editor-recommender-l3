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Sudhanshu" userId="6a603b59-444f-432a-9cca-f86ea98ac30c" providerId="ADAL" clId="{63A7FE99-6124-4725-BF9A-CE5AC741DA5E}"/>
    <pc:docChg chg="delSld modSld">
      <pc:chgData name="Singh, Sudhanshu" userId="6a603b59-444f-432a-9cca-f86ea98ac30c" providerId="ADAL" clId="{63A7FE99-6124-4725-BF9A-CE5AC741DA5E}" dt="2026-02-23T12:11:30.604" v="11" actId="47"/>
      <pc:docMkLst>
        <pc:docMk/>
      </pc:docMkLst>
      <pc:sldChg chg="modSp mod">
        <pc:chgData name="Singh, Sudhanshu" userId="6a603b59-444f-432a-9cca-f86ea98ac30c" providerId="ADAL" clId="{63A7FE99-6124-4725-BF9A-CE5AC741DA5E}" dt="2026-02-23T12:09:13.112" v="0" actId="1076"/>
        <pc:sldMkLst>
          <pc:docMk/>
          <pc:sldMk cId="0" sldId="259"/>
        </pc:sldMkLst>
        <pc:spChg chg="mod">
          <ac:chgData name="Singh, Sudhanshu" userId="6a603b59-444f-432a-9cca-f86ea98ac30c" providerId="ADAL" clId="{63A7FE99-6124-4725-BF9A-CE5AC741DA5E}" dt="2026-02-23T12:09:13.112" v="0" actId="1076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Singh, Sudhanshu" userId="6a603b59-444f-432a-9cca-f86ea98ac30c" providerId="ADAL" clId="{63A7FE99-6124-4725-BF9A-CE5AC741DA5E}" dt="2026-02-23T12:09:38.715" v="1" actId="14100"/>
        <pc:sldMkLst>
          <pc:docMk/>
          <pc:sldMk cId="0" sldId="261"/>
        </pc:sldMkLst>
        <pc:spChg chg="mod">
          <ac:chgData name="Singh, Sudhanshu" userId="6a603b59-444f-432a-9cca-f86ea98ac30c" providerId="ADAL" clId="{63A7FE99-6124-4725-BF9A-CE5AC741DA5E}" dt="2026-02-23T12:09:38.715" v="1" actId="14100"/>
          <ac:spMkLst>
            <pc:docMk/>
            <pc:sldMk cId="0" sldId="261"/>
            <ac:spMk id="16" creationId="{00000000-0000-0000-0000-000000000000}"/>
          </ac:spMkLst>
        </pc:spChg>
      </pc:sldChg>
      <pc:sldChg chg="modSp mod">
        <pc:chgData name="Singh, Sudhanshu" userId="6a603b59-444f-432a-9cca-f86ea98ac30c" providerId="ADAL" clId="{63A7FE99-6124-4725-BF9A-CE5AC741DA5E}" dt="2026-02-23T12:10:14.327" v="7" actId="1076"/>
        <pc:sldMkLst>
          <pc:docMk/>
          <pc:sldMk cId="0" sldId="263"/>
        </pc:sldMkLst>
        <pc:spChg chg="mod">
          <ac:chgData name="Singh, Sudhanshu" userId="6a603b59-444f-432a-9cca-f86ea98ac30c" providerId="ADAL" clId="{63A7FE99-6124-4725-BF9A-CE5AC741DA5E}" dt="2026-02-23T12:09:58.344" v="2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3T12:10:01.491" v="3" actId="107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3T12:10:04.640" v="4" actId="107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3T12:10:07.643" v="5" actId="107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3T12:10:11.761" v="6" actId="107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Singh, Sudhanshu" userId="6a603b59-444f-432a-9cca-f86ea98ac30c" providerId="ADAL" clId="{63A7FE99-6124-4725-BF9A-CE5AC741DA5E}" dt="2026-02-23T12:10:14.327" v="7" actId="1076"/>
          <ac:spMkLst>
            <pc:docMk/>
            <pc:sldMk cId="0" sldId="263"/>
            <ac:spMk id="27" creationId="{00000000-0000-0000-0000-000000000000}"/>
          </ac:spMkLst>
        </pc:spChg>
      </pc:sldChg>
      <pc:sldChg chg="del">
        <pc:chgData name="Singh, Sudhanshu" userId="6a603b59-444f-432a-9cca-f86ea98ac30c" providerId="ADAL" clId="{63A7FE99-6124-4725-BF9A-CE5AC741DA5E}" dt="2026-02-23T12:11:30.604" v="11" actId="47"/>
        <pc:sldMkLst>
          <pc:docMk/>
          <pc:sldMk cId="0" sldId="264"/>
        </pc:sldMkLst>
      </pc:sldChg>
      <pc:sldChg chg="del">
        <pc:chgData name="Singh, Sudhanshu" userId="6a603b59-444f-432a-9cca-f86ea98ac30c" providerId="ADAL" clId="{63A7FE99-6124-4725-BF9A-CE5AC741DA5E}" dt="2026-02-23T12:10:40.152" v="8" actId="47"/>
        <pc:sldMkLst>
          <pc:docMk/>
          <pc:sldMk cId="0" sldId="265"/>
        </pc:sldMkLst>
      </pc:sldChg>
      <pc:sldChg chg="del">
        <pc:chgData name="Singh, Sudhanshu" userId="6a603b59-444f-432a-9cca-f86ea98ac30c" providerId="ADAL" clId="{63A7FE99-6124-4725-BF9A-CE5AC741DA5E}" dt="2026-02-23T12:11:14.343" v="9" actId="47"/>
        <pc:sldMkLst>
          <pc:docMk/>
          <pc:sldMk cId="0" sldId="267"/>
        </pc:sldMkLst>
      </pc:sldChg>
      <pc:sldChg chg="del">
        <pc:chgData name="Singh, Sudhanshu" userId="6a603b59-444f-432a-9cca-f86ea98ac30c" providerId="ADAL" clId="{63A7FE99-6124-4725-BF9A-CE5AC741DA5E}" dt="2026-02-23T12:11:17.921" v="10" actId="47"/>
        <pc:sldMkLst>
          <pc:docMk/>
          <pc:sldMk cId="0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Editor Recommender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CDE"/>
                </a:solidFill>
                <a:latin typeface="Calibri"/>
              </a:defRPr>
            </a:pPr>
            <a:r>
              <a:t>Session &amp; Long-term Memory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POC — 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0">
                <a:solidFill>
                  <a:srgbClr val="CCCCCC"/>
                </a:solidFill>
                <a:latin typeface="Calibri"/>
              </a:defRPr>
            </a:pPr>
            <a:r>
              <a:t>LangGraph Checkpointer  •  LangGraph Store  •  pgvector  •  PostgreSQL</a:t>
            </a:r>
          </a:p>
          <a:p>
            <a:pPr>
              <a:spcAft>
                <a:spcPts val="54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>
              <a:spcAft>
                <a:spcPts val="540"/>
              </a:spcAft>
              <a:defRPr sz="1800" b="0">
                <a:solidFill>
                  <a:srgbClr val="888899"/>
                </a:solidFill>
                <a:latin typeface="Calibri"/>
              </a:defRPr>
            </a:pPr>
            <a:r>
              <a:t>February 23, 2026  •  Validated on MSPUBS Dev 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 — Before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The workflow only had in-context state — data lived in RAM during a single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20040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❌  No Crash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If pod restarts mid-workflow,</a:t>
            </a:r>
            <a:br/>
            <a:r>
              <a:t>all progress is lost.</a:t>
            </a:r>
            <a:br/>
            <a:r>
              <a:t>Must re-run from scratch.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320040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❌  No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No record of what happened</a:t>
            </a:r>
            <a:br/>
            <a:r>
              <a:t>at each decision step.</a:t>
            </a:r>
            <a:br/>
            <a:r>
              <a:t>Cannot debug or comply.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320040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❌  No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0175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System cannot recall past</a:t>
            </a:r>
            <a:br/>
            <a:r>
              <a:t>editor assignments.</a:t>
            </a:r>
            <a:br/>
            <a:r>
              <a:t>Every decision is from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Current workflow:  check_resubmission  →  fetch_data  →  generate_recommendation  →  verify  →  execute_assignment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Solution — Three Memory Tiers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57200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463040" cy="365760"/>
          </a:xfrm>
          <a:prstGeom prst="round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EXISTED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In-Context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  <a:latin typeface="Calibri"/>
              </a:defRPr>
            </a:pPr>
            <a:r>
              <a:t>LangGraph State TypedDict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Passes data between nodes</a:t>
            </a:r>
            <a:br/>
            <a:r>
              <a:t>• Lives in process RAM</a:t>
            </a:r>
            <a:br/>
            <a:r>
              <a:t>• Already existed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291840" cy="457200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0" y="1554480"/>
            <a:ext cx="146304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NEW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CDE"/>
                </a:solidFill>
                <a:latin typeface="Calibri"/>
              </a:defRPr>
            </a:pPr>
            <a:r>
              <a:t>TIER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Session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  <a:latin typeface="Calibri"/>
              </a:defRPr>
            </a:pPr>
            <a:r>
              <a:t>AsyncPostgresSaver → Postgres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Auto-checkpoint after every node</a:t>
            </a:r>
            <a:br/>
            <a:r>
              <a:t>• Crash recovery — resume from last step</a:t>
            </a:r>
            <a:br/>
            <a:r>
              <a:t>• Full audit trail of all state changes</a:t>
            </a:r>
            <a:br/>
            <a:r>
              <a:t>• thread_id per manuscript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291840" cy="457200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1463040" cy="3657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NEW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TIER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Long-term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  <a:latin typeface="Calibri"/>
              </a:defRPr>
            </a:pPr>
            <a:r>
              <a:t>AsyncPostgresStore → pgvector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56616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• Stores completed assignments permanently</a:t>
            </a:r>
            <a:br/>
            <a:r>
              <a:t>• Semantic search over past decisions</a:t>
            </a:r>
            <a:br/>
            <a:r>
              <a:t>• Injects past assignments into LLM prompt</a:t>
            </a:r>
            <a:br/>
            <a:r>
              <a:t>• Agent learns from history</a:t>
            </a:r>
            <a:br/>
            <a:r>
              <a:t>• Namespaced by journal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— How Memory Integrates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09728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009CDE"/>
                </a:solidFill>
                <a:latin typeface="Calibri"/>
              </a:defRPr>
            </a:pPr>
            <a:r>
              <a:t>FastAPI  (app.py)  —  POST /execute_workflow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lifespan:  if POSTGRES_URI  →  create_checkpointer() + create_store()   else  →  run without memory (graceful)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1828800" cy="9144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check_</a:t>
            </a:r>
            <a:br/>
            <a:r>
              <a:t>resubmission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2743200"/>
            <a:ext cx="1828800" cy="9144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fetch_</a:t>
            </a:r>
            <a:br/>
            <a:r>
              <a:t>manuscript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743200"/>
            <a:ext cx="1828800" cy="9144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generate_</a:t>
            </a:r>
            <a:br/>
            <a:r>
              <a:t>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743200"/>
            <a:ext cx="1828800" cy="9144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verify_</a:t>
            </a:r>
            <a:br/>
            <a:r>
              <a:t>recommendation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743200"/>
            <a:ext cx="1828800" cy="914400"/>
          </a:xfrm>
          <a:prstGeom prst="round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execute_</a:t>
            </a:r>
            <a:br/>
            <a:r>
              <a:t>assignment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6000" y="3017520"/>
            <a:ext cx="274320" cy="274320"/>
          </a:xfrm>
          <a:prstGeom prst="rightArrow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4389120" y="3017520"/>
            <a:ext cx="274320" cy="274320"/>
          </a:xfrm>
          <a:prstGeom prst="rightArrow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6492240" y="3017520"/>
            <a:ext cx="274320" cy="274320"/>
          </a:xfrm>
          <a:prstGeom prst="rightArrow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8595360" y="3017520"/>
            <a:ext cx="274320" cy="274320"/>
          </a:xfrm>
          <a:prstGeom prst="rightArrow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CDE"/>
                </a:solidFill>
                <a:latin typeface="Calibri"/>
              </a:defRPr>
            </a:pPr>
            <a:r>
              <a:t>↓ CHECKPOINT saved to Postgres after EACH node  (Tier 2: Session Memory)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5303520" cy="182880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CDE"/>
                </a:solidFill>
                <a:latin typeface="Calibri"/>
              </a:defRPr>
            </a:pPr>
            <a:r>
              <a:t>TIER 2:  Session Memory  (AsyncPostgresSaver)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Auto-checkpoint after every node execution</a:t>
            </a:r>
          </a:p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thread_id = "{journal_id}-{manuscript_number}"</a:t>
            </a:r>
          </a:p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Resume from last checkpoint on pod restart</a:t>
            </a:r>
          </a:p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aget_state_history() for full audit trail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572000"/>
            <a:ext cx="5486400" cy="1828800"/>
          </a:xfrm>
          <a:prstGeom prst="roundRect">
            <a:avLst/>
          </a:prstGeom>
          <a:solidFill>
            <a:srgbClr val="1A4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TIER 3:  Long-term Memory  (AsyncPostgresStore + pgvector)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749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Saves completed assignments after workflow ends</a:t>
            </a:r>
          </a:p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Namespace: ("assignments", journal_id)</a:t>
            </a:r>
          </a:p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pgvector embeddings on reasoning + topics fields</a:t>
            </a:r>
          </a:p>
          <a:p>
            <a:pPr>
              <a:spcAft>
                <a:spcPts val="390"/>
              </a:spcAft>
              <a:defRPr sz="1300" b="0">
                <a:solidFill>
                  <a:srgbClr val="CCCCCC"/>
                </a:solidFill>
                <a:latin typeface="Calibri"/>
              </a:defRPr>
            </a:pPr>
            <a:r>
              <a:t>• Semantic search for similar past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CDE"/>
                </a:solidFill>
                <a:latin typeface="Calibri"/>
              </a:defRPr>
            </a:pPr>
            <a:r>
              <a:t>Tier 2: Session Memory — How Checkpointing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Normal Execution — Every Step Saved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① fetch_manuscript_data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→ checkpoint_1 saved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② generate_recommendation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→ checkpoint_2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③ verify_recommendation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→ checkpoint_3 saved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④ execute_assignment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→ checkpoint_4 saved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⑤ DONE — full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= 4 checkpoints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Crash Recovery — Resume from Checkpoint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① fetch_manuscript_data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→ checkpoint_1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677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② generate_recommendation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2677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→ checkpoint_2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9806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③ Pod crashes! 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79806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💥 CRASH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284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④ Pod restarts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328415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→ loads checkpoint_2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587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⑤ Resumes from verify_recommendation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8587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→ checkpoint_3 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⑥ execute_assignment 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389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→ checkpoint_4 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1947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⑦ DONE — no work lost!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919471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= zero data loss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03520"/>
            <a:ext cx="10698480" cy="11887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53949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71"/>
                </a:solidFill>
                <a:latin typeface="Consolas"/>
              </a:defRPr>
            </a:pPr>
            <a:r>
              <a:t># ee_graph_anthropic.py — async_execute_workflow()</a:t>
            </a:r>
            <a:br/>
            <a:r>
              <a:t>thread_id = f"{manuscript_submission.journal_id}-{manuscript_submission.manuscript_number}"</a:t>
            </a:r>
            <a:br/>
            <a:r>
              <a:t>config = {"configurable": {"thread_id": thread_id}}</a:t>
            </a:r>
            <a:br/>
            <a:r>
              <a:t>async for step in self._astream(manuscript_submission, config=config):  # auto-checkpoints!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Tier 3: Long-term Memory — Assignment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Saving — After Workflow Completes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①  Workflow finishes → editor assigned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②  save_assignment_to_memory() called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③  Extracts: editor_id, reasoning, topics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④  Stores under namespace ("assignments", journal_id)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⑤  Key = manuscript_number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⑥  pgvector indexes reasoning + topics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Searching — Future Workflows Query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①  New manuscript arrives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②  search_similar_assignments(query, journal_id)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③  pgvector finds semantically similar past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④  LLM sees: 'For similar papers, editor X worked well'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4903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⑤  Better, data-driven recommendations!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10698480" cy="210312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71"/>
                </a:solidFill>
                <a:latin typeface="Consolas"/>
              </a:defRPr>
            </a:pPr>
            <a:r>
              <a:rPr dirty="0"/>
              <a:t># memory.py — What gets stored per assignment</a:t>
            </a:r>
            <a:br>
              <a:rPr dirty="0"/>
            </a:br>
            <a:r>
              <a:rPr dirty="0" err="1"/>
              <a:t>memory_record</a:t>
            </a:r>
            <a:r>
              <a:rPr dirty="0"/>
              <a:t> = {</a:t>
            </a:r>
            <a:br>
              <a:rPr dirty="0"/>
            </a:br>
            <a:r>
              <a:rPr dirty="0"/>
              <a:t>    "</a:t>
            </a:r>
            <a:r>
              <a:rPr dirty="0" err="1"/>
              <a:t>editor_id</a:t>
            </a:r>
            <a:r>
              <a:rPr dirty="0"/>
              <a:t>": "130958",            "</a:t>
            </a:r>
            <a:r>
              <a:rPr dirty="0" err="1"/>
              <a:t>editor_person_id</a:t>
            </a:r>
            <a:r>
              <a:rPr dirty="0"/>
              <a:t>": "person-001",</a:t>
            </a:r>
            <a:br>
              <a:rPr dirty="0"/>
            </a:br>
            <a:r>
              <a:rPr dirty="0"/>
              <a:t>    "reasoning": "Expert in organic chemistry...",</a:t>
            </a:r>
            <a:br>
              <a:rPr dirty="0"/>
            </a:br>
            <a:r>
              <a:rPr dirty="0"/>
              <a:t>    "topics": "catalysis, organic synthesis",</a:t>
            </a:r>
            <a:br>
              <a:rPr dirty="0"/>
            </a:br>
            <a:r>
              <a:rPr dirty="0"/>
              <a:t>    "</a:t>
            </a:r>
            <a:r>
              <a:rPr dirty="0" err="1"/>
              <a:t>journal_id</a:t>
            </a:r>
            <a:r>
              <a:rPr dirty="0"/>
              <a:t>": "</a:t>
            </a:r>
            <a:r>
              <a:rPr dirty="0" err="1"/>
              <a:t>jacs</a:t>
            </a:r>
            <a:r>
              <a:rPr dirty="0"/>
              <a:t>",             "</a:t>
            </a:r>
            <a:r>
              <a:rPr dirty="0" err="1"/>
              <a:t>manuscript_number</a:t>
            </a:r>
            <a:r>
              <a:rPr dirty="0"/>
              <a:t>": "JACS-2026-00001",</a:t>
            </a:r>
            <a:br>
              <a:rPr dirty="0"/>
            </a:br>
            <a:r>
              <a:rPr dirty="0"/>
              <a:t>    "</a:t>
            </a:r>
            <a:r>
              <a:rPr dirty="0" err="1"/>
              <a:t>runner_up</a:t>
            </a:r>
            <a:r>
              <a:rPr dirty="0"/>
              <a:t>": "person-002",        "timestamp": "2026-02-21T10:30:00Z",</a:t>
            </a:r>
            <a:br>
              <a:rPr dirty="0"/>
            </a:br>
            <a:r>
              <a:rPr dirty="0"/>
              <a:t>}</a:t>
            </a:r>
            <a:br>
              <a:rPr dirty="0"/>
            </a:br>
            <a:r>
              <a:rPr dirty="0"/>
              <a:t>await </a:t>
            </a:r>
            <a:r>
              <a:rPr dirty="0" err="1"/>
              <a:t>store.aput</a:t>
            </a:r>
            <a:r>
              <a:rPr dirty="0"/>
              <a:t>(namespace=("assignments", "</a:t>
            </a:r>
            <a:r>
              <a:rPr dirty="0" err="1"/>
              <a:t>jacs</a:t>
            </a:r>
            <a:r>
              <a:rPr dirty="0"/>
              <a:t>"), key="JACS-2026-00001", value=</a:t>
            </a:r>
            <a:r>
              <a:rPr dirty="0" err="1"/>
              <a:t>memory_record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ECC71"/>
                </a:solidFill>
                <a:latin typeface="Calibri"/>
              </a:defRPr>
            </a:pPr>
            <a:r>
              <a:t>Tier 3: Memory READ — Past Assignments in LLM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Before every LLM call, the system searches memory for similar past assignments and injects them into the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How the READ Path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①  New manuscript arrives for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②  System extracts manuscript text (first 1000 chars)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③  search_similar_assignments(query, journal_id, limit=5)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④  Store returns semantically similar past assignments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⑤  format_past_assignments_for_prompt(results)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⑥  Formatted text injected into {past_assignments}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⑦  LLM sees past decisions + makes better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What the LLM Sees in the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94560"/>
            <a:ext cx="5486400" cy="320040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Consolas"/>
              </a:defRPr>
            </a:pPr>
            <a:r>
              <a:t>## Past Editor Assignments for Similar Manuscripts</a:t>
            </a:r>
            <a:br/>
            <a:r>
              <a:t>The following are past editor assignments for</a:t>
            </a:r>
            <a:br/>
            <a:r>
              <a:t>similar manuscripts. Use these as additional context.</a:t>
            </a:r>
            <a:br/>
            <a:r>
              <a:t>Do NOT blindly copy past assignments.</a:t>
            </a:r>
            <a:br/>
            <a:br/>
            <a:r>
              <a:t>1. Manuscript ja-2025-00100</a:t>
            </a:r>
            <a:br/>
            <a:r>
              <a:t>   - Assigned Editor: 130958</a:t>
            </a:r>
            <a:br/>
            <a:r>
              <a:t>   - Reasoning: Expert in organic chemistry</a:t>
            </a:r>
            <a:br/>
            <a:r>
              <a:t>     with strong catalysis background...</a:t>
            </a:r>
            <a:br/>
            <a:r>
              <a:t>   - Topics: catalysis, organic chemistry</a:t>
            </a:r>
            <a:br/>
            <a:r>
              <a:t>   - Runner-up: ED002</a:t>
            </a:r>
            <a:br/>
            <a:r>
              <a:t>   - Date: 2026-02-23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69280"/>
            <a:ext cx="11247120" cy="731520"/>
          </a:xfrm>
          <a:prstGeom prst="roundRect">
            <a:avLst/>
          </a:prstGeom>
          <a:solidFill>
            <a:srgbClr val="2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39C12"/>
                </a:solidFill>
                <a:latin typeface="Calibri"/>
              </a:defRPr>
            </a:pPr>
            <a:r>
              <a:t>Safety: Memory reads are wrapped in try/except — if the store is down or search fails, the workflow continues without past assignments. Memory never breaks the main 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Files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New Files  (5)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onsolas"/>
              </a:defRPr>
            </a:pPr>
            <a:r>
              <a:t>memory.py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737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~350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Core module — checkpointer, store, save/search, format_past_assignments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onsolas"/>
              </a:defRPr>
            </a:pPr>
            <a:r>
              <a:t>test_memory_local.py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~430 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6 unit tests — MemorySaver + InMemoryStore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onsolas"/>
              </a:defRPr>
            </a:pPr>
            <a:r>
              <a:t>test_memory_integration.py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3463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~450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8346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4 integration tests — real graph + mock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onsolas"/>
              </a:defRPr>
            </a:pPr>
            <a:r>
              <a:t>test_memory.py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83279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~200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3832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4 Postgres tests (for when Docker available)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onsolas"/>
              </a:defRPr>
            </a:pPr>
            <a:r>
              <a:t>poc_memory_demo.py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9319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Calibri"/>
              </a:defRPr>
            </a:pPr>
            <a:r>
              <a:t>~300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4 interactive demos for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Modified Files  (4)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onsolas"/>
              </a:defRPr>
            </a:pPr>
            <a:r>
              <a:t>ee_graph_anthropic.py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120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Accepts checkpointer/store, reads past assignments into prompt, saves to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onsolas"/>
              </a:defRPr>
            </a:pPr>
            <a:r>
              <a:rPr dirty="0"/>
              <a:t>app.py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44067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Lifespan creates memory if POSTGRES_URI set, graceful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onsolas"/>
              </a:defRPr>
            </a:pPr>
            <a:r>
              <a:rPr dirty="0"/>
              <a:t>prompts.py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7607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Added {</a:t>
            </a:r>
            <a:r>
              <a:rPr dirty="0" err="1"/>
              <a:t>past_assignments</a:t>
            </a:r>
            <a:r>
              <a:rPr dirty="0"/>
              <a:t>} placeholder to V3 prompt 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21791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onsolas"/>
              </a:defRPr>
            </a:pPr>
            <a:r>
              <a:rPr dirty="0" err="1"/>
              <a:t>pyproject.toml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3840480" y="621791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rPr dirty="0"/>
              <a:t>Added </a:t>
            </a:r>
            <a:r>
              <a:rPr dirty="0" err="1"/>
              <a:t>langgraph</a:t>
            </a:r>
            <a:r>
              <a:rPr dirty="0"/>
              <a:t>-checkpoint-</a:t>
            </a:r>
            <a:r>
              <a:rPr dirty="0" err="1"/>
              <a:t>postgres</a:t>
            </a:r>
            <a:r>
              <a:rPr dirty="0"/>
              <a:t>, </a:t>
            </a:r>
            <a:r>
              <a:rPr dirty="0" err="1"/>
              <a:t>psycopg</a:t>
            </a:r>
            <a:r>
              <a:rPr dirty="0"/>
              <a:t>[binary]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CDE"/>
                </a:solidFill>
                <a:latin typeface="Calibri"/>
              </a:defRPr>
            </a:pPr>
            <a:r>
              <a:t>Real RDS Verification — MSPUBS Dev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PostgreSQL 17.4  •  mspubs-dev.cdeku8g0y28t.us-east-1.rds.amazonaws.com  •  Schema: mspubs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 Tables Created in mspubs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onsolas"/>
              </a:defRPr>
            </a:pPr>
            <a:r>
              <a:t>✅  mspubs.checkpoints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194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Workflow state snapshots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onsolas"/>
              </a:defRPr>
            </a:pPr>
            <a:r>
              <a:t>✅  mspubs.checkpoint_blobs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Large binary state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onsolas"/>
              </a:defRPr>
            </a:pPr>
            <a:r>
              <a:t>✅  mspubs.checkpoint_writes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Write-ahead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onsolas"/>
              </a:defRPr>
            </a:pPr>
            <a:r>
              <a:t>✅  mspubs.checkpoint_migrations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Schema versioning (10 rows)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onsolas"/>
              </a:defRPr>
            </a:pPr>
            <a:r>
              <a:t>✅  mspubs.store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Past assignment decisions — JSONB (3 test rows)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onsolas"/>
              </a:defRPr>
            </a:pPr>
            <a:r>
              <a:t>✅  mspubs.store_migrations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480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Schema versioning (4 rows)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Operations Verified on Real Postgres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rPr dirty="0" err="1"/>
              <a:t>store.aput</a:t>
            </a:r>
            <a:r>
              <a:rPr dirty="0"/>
              <a:t>() — save 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✅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97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store.aget() — retrieve by 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✅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00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store.asearch() — list by namespace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✅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03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checkpointer.setup() — create 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703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✅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206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pgvector extension install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❌ Needs rds_superuser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20640"/>
            <a:ext cx="11247120" cy="1280160"/>
          </a:xfrm>
          <a:prstGeom prst="round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Critical: Connection string must include search_path=mspubs  (no CREATE permission on public schema)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71"/>
                </a:solidFill>
                <a:latin typeface="Consolas"/>
              </a:defRPr>
            </a:pPr>
            <a:r>
              <a:t>POSTGRES_URI=postgresql://mspubs_user:&lt;pw&gt;@mspubs-dev...com:5432/mspubs?options=-csearch_path%3Dmspubs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1429</Words>
  <Application>Microsoft Office PowerPoint</Application>
  <PresentationFormat>Widescreen</PresentationFormat>
  <Paragraphs>160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Singh, Sudhanshu</cp:lastModifiedBy>
  <cp:revision>1</cp:revision>
  <dcterms:created xsi:type="dcterms:W3CDTF">2013-01-27T09:14:16Z</dcterms:created>
  <dcterms:modified xsi:type="dcterms:W3CDTF">2026-02-23T12:11:33Z</dcterms:modified>
  <cp:category/>
</cp:coreProperties>
</file>